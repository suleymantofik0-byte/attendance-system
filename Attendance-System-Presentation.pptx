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D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E82C4"/>
                </a:solidFill>
                <a:latin typeface="Segoe UI"/>
              </a:rPr>
              <a:t>ATTENDANCE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Role-based attendance tracking,</a:t>
            </a:r>
          </a:p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built on a cookie + refresh-token auth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B9C9DA"/>
                </a:solidFill>
                <a:latin typeface="Segoe UI"/>
              </a:rPr>
              <a:t>MongoDB  ·  Express  ·  React  · 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996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C"/>
                </a:solidFill>
                <a:latin typeface="Segoe UI"/>
              </a:rPr>
              <a:t>Suleyman Tofik   ·   Team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01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41C26"/>
                </a:solidFill>
                <a:latin typeface="Segoe UI"/>
              </a:rPr>
              <a:t>Attendance is still tracked on paper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383280" cy="28803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64008" cy="2880360"/>
          </a:xfrm>
          <a:prstGeom prst="rect">
            <a:avLst/>
          </a:prstGeom>
          <a:solidFill>
            <a:srgbClr val="A52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03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A5281B"/>
                </a:solidFill>
                <a:latin typeface="Segoe UI"/>
              </a:rPr>
              <a:t>Easy to 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606040"/>
            <a:ext cx="2926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 physical sheet can be misplaced or damaged, with no backup and no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383280" cy="28803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64008" cy="2880360"/>
          </a:xfrm>
          <a:prstGeom prst="rect">
            <a:avLst/>
          </a:prstGeom>
          <a:solidFill>
            <a:srgbClr val="A52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03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A5281B"/>
                </a:solidFill>
                <a:latin typeface="Segoe UI"/>
              </a:rPr>
              <a:t>Hard to 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606040"/>
            <a:ext cx="2926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If a student is marked wrong, there's no traceable process to dispute or fix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920240"/>
            <a:ext cx="3502152" cy="28803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920240"/>
            <a:ext cx="64008" cy="2880360"/>
          </a:xfrm>
          <a:prstGeom prst="rect">
            <a:avLst/>
          </a:prstGeom>
          <a:solidFill>
            <a:srgbClr val="A52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103120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A5281B"/>
                </a:solidFill>
                <a:latin typeface="Segoe UI"/>
              </a:rPr>
              <a:t>No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606040"/>
            <a:ext cx="3044952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Students can't check their own record; admins can't see the whole picture fast.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02  · 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41C26"/>
                </a:solidFill>
                <a:latin typeface="Segoe UI"/>
              </a:rPr>
              <a:t>Three independent pieces, one HTTP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834640" cy="11887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25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41C26"/>
                </a:solidFill>
                <a:latin typeface="Segoe UI"/>
              </a:rPr>
              <a:t>React (Vite)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6B7A8C"/>
                </a:solidFill>
                <a:latin typeface="Segoe UI"/>
              </a:rPr>
              <a:t>attendance-system</a:t>
            </a:r>
          </a:p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6B7A8C"/>
                </a:solidFill>
                <a:latin typeface="Segoe UI"/>
              </a:rPr>
              <a:t>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377440"/>
            <a:ext cx="2834640" cy="11887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25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420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41C26"/>
                </a:solidFill>
                <a:latin typeface="Segoe UI"/>
              </a:rPr>
              <a:t>Express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90779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6B7A8C"/>
                </a:solidFill>
                <a:latin typeface="Segoe UI"/>
              </a:rPr>
              <a:t>attendance-backend</a:t>
            </a:r>
          </a:p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6B7A8C"/>
                </a:solidFill>
                <a:latin typeface="Segoe UI"/>
              </a:rPr>
              <a:t>.vercel.app  (serverless)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377440"/>
            <a:ext cx="2834640" cy="11887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25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5420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41C26"/>
                </a:solidFill>
                <a:latin typeface="Segoe UI"/>
              </a:rPr>
              <a:t>MongoDB Atlas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0779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6B7A8C"/>
                </a:solidFill>
                <a:latin typeface="Segoe UI"/>
              </a:rPr>
              <a:t>attendanceSystem</a:t>
            </a:r>
          </a:p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6B7A8C"/>
                </a:solidFill>
                <a:latin typeface="Segoe UI"/>
              </a:rPr>
              <a:t>database, 7 collections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2971800"/>
            <a:ext cx="1005840" cy="0"/>
          </a:xfrm>
          <a:prstGeom prst="line">
            <a:avLst/>
          </a:prstGeom>
          <a:ln w="25400">
            <a:solidFill>
              <a:srgbClr val="225B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0" y="30358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6B7A8C"/>
                </a:solidFill>
                <a:latin typeface="Segoe UI"/>
              </a:rPr>
              <a:t>HTTPS + cookie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79" y="2971800"/>
            <a:ext cx="1005841" cy="0"/>
          </a:xfrm>
          <a:prstGeom prst="line">
            <a:avLst/>
          </a:prstGeom>
          <a:ln w="25400">
            <a:solidFill>
              <a:srgbClr val="225B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98079" y="30358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6B7A8C"/>
                </a:solidFill>
                <a:latin typeface="Segoe UI"/>
              </a:rPr>
              <a:t>Mongoose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A4756"/>
                </a:solidFill>
                <a:latin typeface="Segoe UI"/>
              </a:rPr>
              <a:t>Two separate Vercel projects — one serves static files, the other runs as a Node function.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A4756"/>
                </a:solidFill>
                <a:latin typeface="Segoe UI"/>
              </a:rPr>
              <a:t>They never import each other's code. The only contract between them is the HTTP API.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92040"/>
            <a:ext cx="5120640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64008" cy="14173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074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Why two projects, not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55778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Vercel treats a static frontend build and a Node backend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differently at the platform level. Splitting them removed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an entire class of "which build system runs here" bugs.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892040"/>
            <a:ext cx="5120640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892040"/>
            <a:ext cx="64008" cy="14173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5074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Why no shared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55778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Frontend and backend can be deployed, scaled and rewritten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independently. The same API could serve a mobile app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with zero backend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03  · 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41C26"/>
                </a:solidFill>
                <a:latin typeface="Segoe UI"/>
              </a:rPr>
              <a:t>Seven collections, not one giant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1536192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84831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587752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admin / teacher / student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(role as an enum)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965960"/>
            <a:ext cx="1536192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5456" y="2084831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2587752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e.g. "Digital Marketing"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regular or weekend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7368" y="1965960"/>
            <a:ext cx="1536192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084831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Enrollment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587752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join: which student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is in which course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1" y="1965960"/>
            <a:ext cx="1536192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3" y="2084831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TeachingAssignment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2587752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join: which teacher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teaches which course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965960"/>
            <a:ext cx="1536192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648" y="2084831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8" y="2587752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student + course + date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= present/absent/late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965960"/>
            <a:ext cx="1536192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2084831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TeacherAttendance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587752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admin tracks whether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the teacher showed 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07624" y="1965960"/>
            <a:ext cx="1536192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0776" y="2084831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CorrectionRequest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0776" y="2587752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student disputes a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A4756"/>
                </a:solidFill>
                <a:latin typeface="Segoe UI"/>
              </a:rPr>
              <a:t>record, admin decides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703320"/>
            <a:ext cx="5166360" cy="23317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703320"/>
            <a:ext cx="64008" cy="23317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388620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Why join tables instead of embedding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" y="438912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 student can be enrolled in many courses, and a course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has many students — a many-to-many relationship.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Embedding attendance inside a student document would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make "show me everyone in Course X today" require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scanning every student. A separate collection with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references makes that a direct, indexed query.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703320"/>
            <a:ext cx="5257800" cy="23317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703320"/>
            <a:ext cx="64008" cy="23317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One index that prevents a real bug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389120"/>
            <a:ext cx="4800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Attendance has a compound unique index on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(student, course, date).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Without it, a teacher double-clicking "Save" could create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two attendance rows for the same day. MongoDB rejects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the second write with error code 11000 instead of silently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corrupting the record.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04  ·  ACCESS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41C26"/>
                </a:solidFill>
                <a:latin typeface="Segoe UI"/>
              </a:rPr>
              <a:t>Three roles, enforced twice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30175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64008" cy="30175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65176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Creates users and courses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Enrolls students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Assigns teachers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Approves or rejects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correction requests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Changes anyone's role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(except their own)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383280" cy="30175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65960"/>
            <a:ext cx="64008" cy="30175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Teacher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65176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Sees only courses they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are assigned to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Marks present / absent /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late for a chosen date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Can edit a record they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already saved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965960"/>
            <a:ext cx="3502152" cy="30175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965960"/>
            <a:ext cx="64008" cy="30175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148840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651760"/>
            <a:ext cx="30449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Views only their own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attendance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Requests a correction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with a written reason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Sees the admin's decision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on every request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12080"/>
            <a:ext cx="10634472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212080"/>
            <a:ext cx="64008" cy="105156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5394960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Enforced on the server, not just the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5897880"/>
            <a:ext cx="10177272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 hidden button in React stops nothing on its own — anyone can call the API directly. Every route is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guarded by middleware that checks the role from a cryptographically signed cookie, every single request.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05  · 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41C26"/>
                </a:solidFill>
                <a:latin typeface="Segoe UI"/>
              </a:rPr>
              <a:t>We rebuilt login mid-project — here's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10634472" cy="566928"/>
          </a:xfrm>
          <a:prstGeom prst="rect">
            <a:avLst/>
          </a:prstGeom>
          <a:solidFill>
            <a:srgbClr val="14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931920" y="202996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First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2029968"/>
            <a:ext cx="3639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Current 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87168"/>
            <a:ext cx="10634472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41C26"/>
                </a:solidFill>
                <a:latin typeface="Segoe UI"/>
              </a:rPr>
              <a:t>Where the token lives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1518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5281B"/>
                </a:solidFill>
                <a:latin typeface="Segoe UI"/>
              </a:rPr>
              <a:t>localStorage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615184"/>
            <a:ext cx="3639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7A3C"/>
                </a:solidFill>
                <a:latin typeface="Segoe UI"/>
              </a:rPr>
              <a:t>httpOnly cookie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054096"/>
            <a:ext cx="106344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41C26"/>
                </a:solidFill>
                <a:latin typeface="Segoe UI"/>
              </a:rPr>
              <a:t>Readable by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18211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5281B"/>
                </a:solidFill>
                <a:latin typeface="Segoe UI"/>
              </a:rPr>
              <a:t>Yes — XSS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182112"/>
            <a:ext cx="3639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7A3C"/>
                </a:solidFill>
                <a:latin typeface="Segoe UI"/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1024"/>
            <a:ext cx="10634472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490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41C26"/>
                </a:solidFill>
                <a:latin typeface="Segoe UI"/>
              </a:rPr>
              <a:t>Token lifetime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74904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5281B"/>
                </a:solidFill>
                <a:latin typeface="Segoe UI"/>
              </a:rPr>
              <a:t>1 hour, one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3749040"/>
            <a:ext cx="3639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7A3C"/>
                </a:solidFill>
                <a:latin typeface="Segoe UI"/>
              </a:rPr>
              <a:t>15 min access + 7 day refresh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87952"/>
            <a:ext cx="106344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1596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41C26"/>
                </a:solidFill>
                <a:latin typeface="Segoe UI"/>
              </a:rPr>
              <a:t>Logout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31596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5281B"/>
                </a:solidFill>
                <a:latin typeface="Segoe UI"/>
              </a:rPr>
              <a:t>Deletes it client-side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4315968"/>
            <a:ext cx="3639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7A3C"/>
                </a:solidFill>
                <a:latin typeface="Segoe UI"/>
              </a:rPr>
              <a:t>Server revokes it — real logout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754880"/>
            <a:ext cx="10634472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82896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41C26"/>
                </a:solidFill>
                <a:latin typeface="Segoe UI"/>
              </a:rPr>
              <a:t>Auto-renewal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882896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5281B"/>
                </a:solidFill>
                <a:latin typeface="Segoe UI"/>
              </a:rPr>
              <a:t>None, forces re-login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4882896"/>
            <a:ext cx="3639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7A3C"/>
                </a:solidFill>
                <a:latin typeface="Segoe UI"/>
              </a:rPr>
              <a:t>Silent refresh via interceptor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04688"/>
            <a:ext cx="10634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6B7A8C"/>
                </a:solidFill>
                <a:latin typeface="Segoe UI"/>
              </a:rPr>
              <a:t>The second version is real teamwork: I built the first pass alone under deadline, then merged in</a:t>
            </a:r>
          </a:p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6B7A8C"/>
                </a:solidFill>
                <a:latin typeface="Segoe UI"/>
              </a:rPr>
              <a:t>my teammate's improvements once we had time to do it properly.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05  · 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41C26"/>
                </a:solidFill>
                <a:latin typeface="Segoe UI"/>
              </a:rPr>
              <a:t>What happens when you log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1371600" cy="457200"/>
          </a:xfrm>
          <a:prstGeom prst="roundRect">
            <a:avLst>
              <a:gd name="adj" fmla="val 15000"/>
            </a:avLst>
          </a:prstGeom>
          <a:solidFill>
            <a:srgbClr val="14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2103120"/>
            <a:ext cx="1371600" cy="457200"/>
          </a:xfrm>
          <a:prstGeom prst="roundRect">
            <a:avLst>
              <a:gd name="adj" fmla="val 15000"/>
            </a:avLst>
          </a:prstGeom>
          <a:solidFill>
            <a:srgbClr val="14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21031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2103120"/>
            <a:ext cx="1371600" cy="457200"/>
          </a:xfrm>
          <a:prstGeom prst="roundRect">
            <a:avLst>
              <a:gd name="adj" fmla="val 15000"/>
            </a:avLst>
          </a:prstGeom>
          <a:solidFill>
            <a:srgbClr val="14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21031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MongoDB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63040" y="2560320"/>
            <a:ext cx="0" cy="3383280"/>
          </a:xfrm>
          <a:prstGeom prst="line">
            <a:avLst/>
          </a:prstGeom>
          <a:ln w="12700">
            <a:solidFill>
              <a:srgbClr val="D8DEE6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5040" y="2560320"/>
            <a:ext cx="0" cy="3383280"/>
          </a:xfrm>
          <a:prstGeom prst="line">
            <a:avLst/>
          </a:prstGeom>
          <a:ln w="12700">
            <a:solidFill>
              <a:srgbClr val="D8DEE6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607040" y="2560320"/>
            <a:ext cx="0" cy="3383280"/>
          </a:xfrm>
          <a:prstGeom prst="line">
            <a:avLst/>
          </a:prstGeom>
          <a:ln w="12700">
            <a:solidFill>
              <a:srgbClr val="D8DEE6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63040" y="2697480"/>
            <a:ext cx="4572000" cy="0"/>
          </a:xfrm>
          <a:prstGeom prst="line">
            <a:avLst/>
          </a:prstGeom>
          <a:ln w="19050">
            <a:solidFill>
              <a:srgbClr val="3A475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630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3A4756"/>
                </a:solidFill>
                <a:latin typeface="Segoe UI"/>
              </a:rPr>
              <a:t>POST /auth/login { email, password }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3200400"/>
            <a:ext cx="4572000" cy="0"/>
          </a:xfrm>
          <a:prstGeom prst="line">
            <a:avLst/>
          </a:prstGeom>
          <a:ln w="19050">
            <a:solidFill>
              <a:srgbClr val="3A475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29077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3A4756"/>
                </a:solidFill>
                <a:latin typeface="Segoe UI"/>
              </a:rPr>
              <a:t>find user by email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35040" y="3703320"/>
            <a:ext cx="4572000" cy="0"/>
          </a:xfrm>
          <a:prstGeom prst="line">
            <a:avLst/>
          </a:prstGeom>
          <a:ln w="19050">
            <a:solidFill>
              <a:srgbClr val="3A475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35040" y="3410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3A4756"/>
                </a:solidFill>
                <a:latin typeface="Segoe UI"/>
              </a:rPr>
              <a:t>return hashed password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605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A36A0C"/>
                </a:solidFill>
                <a:latin typeface="Segoe UI"/>
              </a:rPr>
              <a:t>bcrypt.compare(typed password, stored hash)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A36A0C"/>
                </a:solidFill>
                <a:latin typeface="Segoe UI"/>
              </a:rPr>
              <a:t>sign access token (15 min) + refresh token (7 days)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5349240"/>
            <a:ext cx="4572000" cy="0"/>
          </a:xfrm>
          <a:prstGeom prst="line">
            <a:avLst/>
          </a:prstGeom>
          <a:ln w="19050">
            <a:solidFill>
              <a:srgbClr val="3A475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35040" y="50566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3A4756"/>
                </a:solidFill>
                <a:latin typeface="Segoe UI"/>
              </a:rPr>
              <a:t>save refresh token on the user record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463040" y="5943600"/>
            <a:ext cx="4572000" cy="0"/>
          </a:xfrm>
          <a:prstGeom prst="line">
            <a:avLst/>
          </a:prstGeom>
          <a:ln w="22225">
            <a:solidFill>
              <a:srgbClr val="1E7A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63040" y="5650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E7A3C"/>
                </a:solidFill>
                <a:latin typeface="Segoe UI"/>
              </a:rPr>
              <a:t>Set-Cookie: token, refreshToken  (both httpOnly)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6080760"/>
            <a:ext cx="10634472" cy="640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6080760"/>
            <a:ext cx="64008" cy="64008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6263640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033271" y="6263640"/>
            <a:ext cx="10177272" cy="-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3A4756"/>
                </a:solidFill>
                <a:latin typeface="Segoe UI"/>
              </a:rPr>
              <a:t>The browser never touches the token directly — it just holds a cookie the server marked "httpOnly" and sends it back automatically on every request to this domain.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05  · 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41C26"/>
                </a:solidFill>
                <a:latin typeface="Segoe UI"/>
              </a:rPr>
              <a:t>Staying logged in without a 15-minute timeout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166360" cy="39319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64008" cy="39319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4884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The interceptor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65176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Every API call goes through one axios instance.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 response interceptor watches for a 401. On the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first one, it: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  1. Pauses the failed request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  2. Calls POST /auth/refresh (sends the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     refresh cookie automatically)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  3. Gets a fresh 15-minute access token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  4. Retries the original request — the user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     never sees an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65960"/>
            <a:ext cx="5257800" cy="1828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965960"/>
            <a:ext cx="64008" cy="182880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Why 15 minutes, not 1 hour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651760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 stolen access token is only useful for 15 minutes.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The blast radius of a leak is small on purpose.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977639"/>
            <a:ext cx="5257800" cy="19202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977639"/>
            <a:ext cx="64008" cy="192024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16052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Why a separate refresh secret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66344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The access and refresh tokens are signed with two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different secrets. Leaking one doesn't let an attacker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forge the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52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0938A"/>
                </a:solidFill>
                <a:latin typeface="Segoe UI"/>
              </a:rPr>
              <a:t>06  ·  A REAL BUG WE CAUGHT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The interceptor can retry itself into a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5166360" cy="4297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64008" cy="4297680"/>
          </a:xfrm>
          <a:prstGeom prst="rect">
            <a:avLst/>
          </a:prstGeom>
          <a:solidFill>
            <a:srgbClr val="A52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92024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A5281B"/>
                </a:solidFill>
                <a:latin typeface="Segoe UI"/>
              </a:rPr>
              <a:t>What went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2316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0B0A8"/>
                </a:solidFill>
                <a:latin typeface="Consolas"/>
              </a:rPr>
              <a:t>if (status === 401 &amp;&amp; !original._retry) {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0B0A8"/>
                </a:solidFill>
                <a:latin typeface="Consolas"/>
              </a:rPr>
              <a:t>  original._retry = true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0B0A8"/>
                </a:solidFill>
                <a:latin typeface="Consolas"/>
              </a:rPr>
              <a:t>  await api.post("/auth/refresh")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0B0A8"/>
                </a:solidFill>
                <a:latin typeface="Consolas"/>
              </a:rPr>
              <a:t>  return api(original)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0B0A8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2336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D8C8C4"/>
                </a:solidFill>
                <a:latin typeface="Segoe UI"/>
              </a:rPr>
              <a:t>If /auth/refresh itself returns 401, this code retries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D8C8C4"/>
                </a:solidFill>
                <a:latin typeface="Segoe UI"/>
              </a:rPr>
              <a:t>it — as a brand new request with no _retry flag.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D8C8C4"/>
                </a:solidFill>
                <a:latin typeface="Segoe UI"/>
              </a:rPr>
              <a:t>Each retry spawns another retry.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D8C8C4"/>
                </a:solidFill>
                <a:latin typeface="Segoe UI"/>
              </a:rPr>
              <a:t>In testing: 1,000+ requests per second, all hitting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D8C8C4"/>
                </a:solidFill>
                <a:latin typeface="Segoe UI"/>
              </a:rPr>
              <a:t>/auth/refresh, before we caught it in the network tab.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37360"/>
            <a:ext cx="5257800" cy="4297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737360"/>
            <a:ext cx="64008" cy="42976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2024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E7A3C"/>
                </a:solidFill>
                <a:latin typeface="Segoe UI"/>
              </a:rPr>
              <a:t>The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423160"/>
            <a:ext cx="4800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E0B8"/>
                </a:solidFill>
                <a:latin typeface="Consolas"/>
              </a:rPr>
              <a:t>const isRefreshCall =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E0B8"/>
                </a:solidFill>
                <a:latin typeface="Consolas"/>
              </a:rPr>
              <a:t>  original.url.includes("/auth/refresh")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E0B8"/>
                </a:solidFill>
                <a:latin typeface="Consolas"/>
              </a:rPr>
              <a:t>if (status === 401 &amp;&amp; !original._retry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E0B8"/>
                </a:solidFill>
                <a:latin typeface="Consolas"/>
              </a:rPr>
              <a:t>    &amp;&amp; !isRefreshCall) {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E0B8"/>
                </a:solidFill>
                <a:latin typeface="Consolas"/>
              </a:rPr>
              <a:t>  ...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8E0B8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4D8C8"/>
                </a:solidFill>
                <a:latin typeface="Segoe UI"/>
              </a:rPr>
              <a:t>Never retry the refresh call itself — if refreshing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4D8C8"/>
                </a:solidFill>
                <a:latin typeface="Segoe UI"/>
              </a:rPr>
              <a:t>fails, the session is genuinely dead, and the user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4D8C8"/>
                </a:solidFill>
                <a:latin typeface="Segoe UI"/>
              </a:rPr>
              <a:t>should be sent back to login, not looped forever.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4D8C8"/>
                </a:solidFill>
                <a:latin typeface="Segoe UI"/>
              </a:rPr>
              <a:t>Found by reading actual network traffic, not by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4D8C8"/>
                </a:solidFill>
                <a:latin typeface="Segoe UI"/>
              </a:rPr>
              <a:t>guessing. Fixed with a two-line guard.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07  ·  SECURITY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41C26"/>
                </a:solidFill>
                <a:latin typeface="Segoe UI"/>
              </a:rPr>
              <a:t>Three rules the server enforces, not the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30175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64008" cy="30175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Signup can't grant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65176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Public registration always creates a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student. The role is never read from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the request body — there's no field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to tamper with.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383280" cy="30175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65960"/>
            <a:ext cx="64008" cy="30175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Only an admin assigns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65176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Making a teacher or another admin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requires an existing admin, guarded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by authorize("admin") middleware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on the route.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965960"/>
            <a:ext cx="3502152" cy="30175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965960"/>
            <a:ext cx="64008" cy="301752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148840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Admins can't demote themselves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651760"/>
            <a:ext cx="30449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Prevents an accidental lockout —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the last admin can never be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removed by their own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12080"/>
            <a:ext cx="10634472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212080"/>
            <a:ext cx="64008" cy="1051560"/>
          </a:xfrm>
          <a:prstGeom prst="rect">
            <a:avLst/>
          </a:prstGeom>
          <a:solidFill>
            <a:srgbClr val="A36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5394960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A36A0C"/>
                </a:solidFill>
                <a:latin typeface="Segoe UI"/>
              </a:rPr>
              <a:t>The honest gaps we know about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5897880"/>
            <a:ext cx="10177272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4756"/>
                </a:solidFill>
                <a:latin typeface="Segoe UI"/>
              </a:rPr>
              <a:t>Registration is public (anyone can create a student). No rate limiting on login yet. Both are named, understood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4756"/>
                </a:solidFill>
                <a:latin typeface="Segoe UI"/>
              </a:rPr>
              <a:t>fixes — not blind spots — and the second one is a small addition (express-rate-limit) away.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E82C4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Teacher marks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B9C9DA"/>
                </a:solidFill>
                <a:latin typeface="Segoe UI"/>
              </a:rPr>
              <a:t>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Student disputes a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B9C9DA"/>
                </a:solidFill>
                <a:latin typeface="Segoe UI"/>
              </a:rP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Admin approves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B9C9DA"/>
                </a:solidFill>
                <a:latin typeface="Segoe UI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3E82C4"/>
                </a:solidFill>
                <a:latin typeface="Segoe UI"/>
              </a:rPr>
              <a:t>The record changes,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5B94"/>
                </a:solidFill>
                <a:latin typeface="Segoe UI"/>
              </a:rPr>
              <a:t>08  ·  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41C26"/>
                </a:solidFill>
                <a:latin typeface="Segoe UI"/>
              </a:rPr>
              <a:t>The lessons that outlast this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166360" cy="19659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64008" cy="196596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4884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Never trust the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651760"/>
            <a:ext cx="4709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Every permission check we removed from the frontend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and re-verified on the server made the app more secure,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not less usable.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65960"/>
            <a:ext cx="5257800" cy="19659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965960"/>
            <a:ext cx="64008" cy="196596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Read the network tab before guessing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651760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The refresh-loop bug was invisible in the UI. It only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showed up as 1,000 requests in DevTools — the fix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took two minutes once we actually looked.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14800"/>
            <a:ext cx="5166360" cy="19659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114800"/>
            <a:ext cx="64008" cy="196596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429768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Iteration beats a perfect first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4800600"/>
            <a:ext cx="4709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The first auth system worked under deadline pressure.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The second one is genuinely more secure — built once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there was time to do it right.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114800"/>
            <a:ext cx="5257800" cy="19659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114800"/>
            <a:ext cx="64008" cy="1965960"/>
          </a:xfrm>
          <a:prstGeom prst="rect">
            <a:avLst/>
          </a:prstGeom>
          <a:solidFill>
            <a:srgbClr val="22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29768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25B94"/>
                </a:solidFill>
                <a:latin typeface="Segoe UI"/>
              </a:rPr>
              <a:t>Separate concerns, separate deploys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800600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Splitting frontend and backend into two Vercel projects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removed a category of bugs entirely, instead of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4756"/>
                </a:solidFill>
                <a:latin typeface="Segoe UI"/>
              </a:rPr>
              <a:t>configuring around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3E82C4"/>
                </a:solidFill>
                <a:latin typeface="Segoe U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7A8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