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080760"/>
            <a:ext cx="12191695" cy="777240"/>
          </a:xfrm>
          <a:prstGeom prst="rect">
            <a:avLst/>
          </a:prstGeom>
          <a:solidFill>
            <a:srgbClr val="0D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011680"/>
            <a:ext cx="822960" cy="54864"/>
          </a:xfrm>
          <a:prstGeom prst="rect">
            <a:avLst/>
          </a:prstGeom>
          <a:solidFill>
            <a:srgbClr val="5B9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1033272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5B9BD8"/>
                </a:solidFill>
                <a:latin typeface="Segoe UI"/>
              </a:rPr>
              <a:t>ATTENDANCE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1463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Role-based attendance tracking,</a:t>
            </a:r>
          </a:p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built on cookie + refresh-token auth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B9C9DA"/>
                </a:solidFill>
                <a:latin typeface="Segoe UI"/>
              </a:rPr>
              <a:t>MongoDB  ·  Express  ·  React  ·  Node.js  ·  Vercel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91072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A8C"/>
                </a:solidFill>
                <a:latin typeface="Segoe UI"/>
              </a:rPr>
              <a:t>Suleyman Tofik   ·   Team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22960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25B94"/>
                </a:solidFill>
                <a:latin typeface="Segoe UI"/>
              </a:rPr>
              <a:t>01  · 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4472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41C26"/>
                </a:solidFill>
                <a:latin typeface="Segoe UI"/>
              </a:rPr>
              <a:t>Attendance is still tracked on paper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392424" cy="214884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64008" cy="2148840"/>
          </a:xfrm>
          <a:prstGeom prst="rect">
            <a:avLst/>
          </a:prstGeom>
          <a:solidFill>
            <a:srgbClr val="A52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75688"/>
            <a:ext cx="2935224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A5281B"/>
                </a:solidFill>
                <a:latin typeface="Segoe UI"/>
              </a:rPr>
              <a:t>Easy to 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51176"/>
            <a:ext cx="2889504" cy="133502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A4756"/>
                </a:solidFill>
                <a:latin typeface="Segoe UI"/>
              </a:rPr>
              <a:t>A physical sheet can be misplaced or damaged, with no backup and no history of what changed.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98264" y="1874519"/>
            <a:ext cx="3392424" cy="214884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98264" y="1874519"/>
            <a:ext cx="64008" cy="2148840"/>
          </a:xfrm>
          <a:prstGeom prst="rect">
            <a:avLst/>
          </a:prstGeom>
          <a:solidFill>
            <a:srgbClr val="A52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2584" y="2075688"/>
            <a:ext cx="2935224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A5281B"/>
                </a:solidFill>
                <a:latin typeface="Segoe UI"/>
              </a:rPr>
              <a:t>Hard to correct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2584" y="2551176"/>
            <a:ext cx="2889504" cy="133502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A4756"/>
                </a:solidFill>
                <a:latin typeface="Segoe UI"/>
              </a:rPr>
              <a:t>If a student is marked wrong, there's no traceable process to dispute it or record who fixed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9288" y="1874519"/>
            <a:ext cx="3392424" cy="214884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9288" y="1874519"/>
            <a:ext cx="64008" cy="2148840"/>
          </a:xfrm>
          <a:prstGeom prst="rect">
            <a:avLst/>
          </a:prstGeom>
          <a:solidFill>
            <a:srgbClr val="A52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075688"/>
            <a:ext cx="2935224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A5281B"/>
                </a:solidFill>
                <a:latin typeface="Segoe UI"/>
              </a:rPr>
              <a:t>No visibility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551176"/>
            <a:ext cx="2889504" cy="133502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A4756"/>
                </a:solidFill>
                <a:latin typeface="Segoe UI"/>
              </a:rPr>
              <a:t>Students can't check their own record, and admins can't see the whole picture without collecting every sheet.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34840"/>
            <a:ext cx="10634472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41C26"/>
                </a:solidFill>
                <a:latin typeface="Segoe UI"/>
              </a:rPr>
              <a:t>We wanted every record stored, visible to the right people, and correctable through a process that leaves a trail.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6B7A8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22960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25B94"/>
                </a:solidFill>
                <a:latin typeface="Segoe UI"/>
              </a:rPr>
              <a:t>02  ·  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4472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41C26"/>
                </a:solidFill>
                <a:latin typeface="Segoe UI"/>
              </a:rPr>
              <a:t>Three pieces, one HTTP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292608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9050">
            <a:solidFill>
              <a:srgbClr val="225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84832"/>
            <a:ext cx="292608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41C26"/>
                </a:solidFill>
                <a:latin typeface="Segoe UI"/>
              </a:rPr>
              <a:t>React (Vite)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29260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 i="0">
                <a:solidFill>
                  <a:srgbClr val="6B7A8C"/>
                </a:solidFill>
                <a:latin typeface="Segoe UI"/>
              </a:rPr>
              <a:t>static files on Vercel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36008" y="1828800"/>
            <a:ext cx="292608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9050">
            <a:solidFill>
              <a:srgbClr val="225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2084832"/>
            <a:ext cx="292608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41C26"/>
                </a:solidFill>
                <a:latin typeface="Segoe UI"/>
              </a:rPr>
              <a:t>Express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8" y="2468880"/>
            <a:ext cx="29260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 i="0">
                <a:solidFill>
                  <a:srgbClr val="6B7A8C"/>
                </a:solidFill>
                <a:latin typeface="Segoe UI"/>
              </a:rPr>
              <a:t>Node serverless function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94776" y="1828800"/>
            <a:ext cx="2926080" cy="1143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9050">
            <a:solidFill>
              <a:srgbClr val="225B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4776" y="2084832"/>
            <a:ext cx="292608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41C26"/>
                </a:solidFill>
                <a:latin typeface="Segoe UI"/>
              </a:rPr>
              <a:t>MongoDB Atlas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94776" y="2468880"/>
            <a:ext cx="29260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 i="0">
                <a:solidFill>
                  <a:srgbClr val="6B7A8C"/>
                </a:solidFill>
                <a:latin typeface="Segoe UI"/>
              </a:rPr>
              <a:t>7 collections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758183" y="2400300"/>
            <a:ext cx="822961" cy="0"/>
          </a:xfrm>
          <a:prstGeom prst="line">
            <a:avLst/>
          </a:prstGeom>
          <a:ln w="25400">
            <a:solidFill>
              <a:srgbClr val="225B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66160" y="2473452"/>
            <a:ext cx="1207008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A8C"/>
                </a:solidFill>
                <a:latin typeface="Segoe UI"/>
              </a:rPr>
              <a:t>/api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16952" y="2400300"/>
            <a:ext cx="822960" cy="0"/>
          </a:xfrm>
          <a:prstGeom prst="line">
            <a:avLst/>
          </a:prstGeom>
          <a:ln w="25400">
            <a:solidFill>
              <a:srgbClr val="225B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424927" y="2473452"/>
            <a:ext cx="1207008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A8C"/>
                </a:solidFill>
                <a:latin typeface="Segoe UI"/>
              </a:rPr>
              <a:t>Mongoose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246120"/>
            <a:ext cx="10634472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3A4756"/>
                </a:solidFill>
                <a:latin typeface="Segoe UI"/>
              </a:rPr>
              <a:t>The frontend and backend never import each other's code — the only thing connecting them is the HTTP API.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31920"/>
            <a:ext cx="5180076" cy="196596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31920"/>
            <a:ext cx="64008" cy="1965960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133087"/>
            <a:ext cx="47228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25B94"/>
                </a:solidFill>
                <a:latin typeface="Segoe UI"/>
              </a:rPr>
              <a:t>Why two Vercel projects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608576"/>
            <a:ext cx="4677156" cy="11521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3A4756"/>
                </a:solidFill>
                <a:latin typeface="Segoe UI"/>
              </a:rPr>
              <a:t>A static React build and a Node server are different kinds of deployment. Splitting them removed a whole class of "which build runs here" errors, and the same API could serve a mobile app with no backend changes.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1636" y="3931920"/>
            <a:ext cx="5180076" cy="196596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1636" y="3931920"/>
            <a:ext cx="64008" cy="1965960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5955" y="4133087"/>
            <a:ext cx="47228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25B94"/>
                </a:solidFill>
                <a:latin typeface="Segoe UI"/>
              </a:rPr>
              <a:t>Why /api goes through the frontend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5955" y="4608576"/>
            <a:ext cx="4677156" cy="11521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3A4756"/>
                </a:solidFill>
                <a:latin typeface="Segoe UI"/>
              </a:rPr>
              <a:t>The frontend's domain forwards /api to the backend, so the browser only ever talks to one site. That keeps the login cookies first-party — Safari and iPhones block cookies from a second domain.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6B7A8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22960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25B94"/>
                </a:solidFill>
                <a:latin typeface="Segoe UI"/>
              </a:rPr>
              <a:t>03  ·  DATA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4472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41C26"/>
                </a:solidFill>
                <a:latin typeface="Segoe UI"/>
              </a:rPr>
              <a:t>Seven collections, not one giant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1425157" cy="160020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425157" cy="54864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47672"/>
            <a:ext cx="1242277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225B94"/>
                </a:solidFill>
                <a:latin typeface="Segoe UI"/>
              </a:rPr>
              <a:t>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1242277" cy="7772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A4756"/>
                </a:solidFill>
                <a:latin typeface="Segoe UI"/>
              </a:rPr>
              <a:t>admin, teacher or student — role is an enum</a:t>
            </a:r>
          </a:p>
        </p:txBody>
      </p:sp>
      <p:sp>
        <p:nvSpPr>
          <p:cNvPr id="9" name="Rectangle 8"/>
          <p:cNvSpPr/>
          <p:nvPr/>
        </p:nvSpPr>
        <p:spPr>
          <a:xfrm>
            <a:off x="2312125" y="1783080"/>
            <a:ext cx="1425157" cy="160020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12125" y="1783080"/>
            <a:ext cx="1425157" cy="54864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03565" y="1947672"/>
            <a:ext cx="1242277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225B94"/>
                </a:solidFill>
                <a:latin typeface="Segoe UI"/>
              </a:rPr>
              <a:t>Course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3565" y="2514600"/>
            <a:ext cx="1242277" cy="7772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A4756"/>
                </a:solidFill>
                <a:latin typeface="Segoe UI"/>
              </a:rPr>
              <a:t>e.g. Digital Marketing, regular or weekend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7011" y="1783080"/>
            <a:ext cx="1425157" cy="160020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7011" y="1783080"/>
            <a:ext cx="1425157" cy="54864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8451" y="1947672"/>
            <a:ext cx="1242277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225B94"/>
                </a:solidFill>
                <a:latin typeface="Segoe UI"/>
              </a:rPr>
              <a:t>Enrollment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8451" y="2514600"/>
            <a:ext cx="1242277" cy="7772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A4756"/>
                </a:solidFill>
                <a:latin typeface="Segoe UI"/>
              </a:rPr>
              <a:t>which student is in which course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81897" y="1783080"/>
            <a:ext cx="1425157" cy="160020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81897" y="1783080"/>
            <a:ext cx="1425157" cy="54864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73337" y="1947672"/>
            <a:ext cx="1242277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225B94"/>
                </a:solidFill>
                <a:latin typeface="Segoe UI"/>
              </a:rPr>
              <a:t>Teaching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225B94"/>
                </a:solidFill>
                <a:latin typeface="Segoe UI"/>
              </a:rPr>
              <a:t>Assignment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73337" y="2514600"/>
            <a:ext cx="1242277" cy="7772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A4756"/>
                </a:solidFill>
                <a:latin typeface="Segoe UI"/>
              </a:rPr>
              <a:t>which teacher teaches which course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16782" y="1783080"/>
            <a:ext cx="1425157" cy="160020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16782" y="1783080"/>
            <a:ext cx="1425157" cy="54864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08222" y="1947672"/>
            <a:ext cx="1242277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225B94"/>
                </a:solidFill>
                <a:latin typeface="Segoe UI"/>
              </a:rPr>
              <a:t>Attendance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8222" y="2514600"/>
            <a:ext cx="1242277" cy="7772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A4756"/>
                </a:solidFill>
                <a:latin typeface="Segoe UI"/>
              </a:rPr>
              <a:t>student + course + date → present / absent / late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1668" y="1783080"/>
            <a:ext cx="1425157" cy="160020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51668" y="1783080"/>
            <a:ext cx="1425157" cy="54864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3108" y="1947672"/>
            <a:ext cx="1242277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225B94"/>
                </a:solidFill>
                <a:latin typeface="Segoe UI"/>
              </a:rPr>
              <a:t>Teacher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225B94"/>
                </a:solidFill>
                <a:latin typeface="Segoe UI"/>
              </a:rPr>
              <a:t>Attendance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3108" y="2514600"/>
            <a:ext cx="1242277" cy="7772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A4756"/>
                </a:solidFill>
                <a:latin typeface="Segoe UI"/>
              </a:rPr>
              <a:t>did the teacher show up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86554" y="1783080"/>
            <a:ext cx="1425157" cy="160020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86554" y="1783080"/>
            <a:ext cx="1425157" cy="54864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7994" y="1947672"/>
            <a:ext cx="1242277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225B94"/>
                </a:solidFill>
                <a:latin typeface="Segoe UI"/>
              </a:rPr>
              <a:t>Correction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225B94"/>
                </a:solidFill>
                <a:latin typeface="Segoe UI"/>
              </a:rPr>
              <a:t>Request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77994" y="2514600"/>
            <a:ext cx="1242277" cy="7772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3A4756"/>
                </a:solidFill>
                <a:latin typeface="Segoe UI"/>
              </a:rPr>
              <a:t>a student disputes a record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3657600"/>
            <a:ext cx="5180076" cy="256032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3657600"/>
            <a:ext cx="64008" cy="2560320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3858768"/>
            <a:ext cx="47228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25B94"/>
                </a:solidFill>
                <a:latin typeface="Segoe UI"/>
              </a:rPr>
              <a:t>Why join tables instead of embedding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4334256"/>
            <a:ext cx="4677156" cy="1746503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3A4756"/>
                </a:solidFill>
                <a:latin typeface="Segoe UI"/>
              </a:rPr>
              <a:t>A student takes many courses and a course has many students — many-to-many.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3A4756"/>
                </a:solidFill>
                <a:latin typeface="Segoe UI"/>
              </a:rPr>
              <a:t>Embedding attendance inside each student would make "everyone in this course today" scan every student. Separate collections with references make it one indexed query.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1636" y="3657600"/>
            <a:ext cx="5180076" cy="256032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31636" y="3657600"/>
            <a:ext cx="64008" cy="2560320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05955" y="3858768"/>
            <a:ext cx="47228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25B94"/>
                </a:solidFill>
                <a:latin typeface="Segoe UI"/>
              </a:rPr>
              <a:t>One index that prevents a real bug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05955" y="4334256"/>
            <a:ext cx="4677156" cy="1746503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3A4756"/>
                </a:solidFill>
                <a:latin typeface="Segoe UI"/>
              </a:rPr>
              <a:t>Attendance has a compound unique index on (student, course, date).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3A4756"/>
                </a:solidFill>
                <a:latin typeface="Segoe UI"/>
              </a:rPr>
              <a:t>Without it, double-clicking Save could create two records for the same day. MongoDB rejects the duplicate with error 11000 instead of silently corrupting data.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6B7A8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22960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25B94"/>
                </a:solidFill>
                <a:latin typeface="Segoe UI"/>
              </a:rPr>
              <a:t>04  ·  ACCESS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4472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41C26"/>
                </a:solidFill>
                <a:latin typeface="Segoe UI"/>
              </a:rPr>
              <a:t>Three roles, each with its own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3392424" cy="283464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64008" cy="2834640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84248"/>
            <a:ext cx="2935224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225B94"/>
                </a:solidFill>
                <a:latin typeface="Segoe UI"/>
              </a:rPr>
              <a:t>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9736"/>
            <a:ext cx="2889504" cy="202082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A4756"/>
                </a:solidFill>
                <a:latin typeface="Segoe UI"/>
              </a:rPr>
              <a:t>• Creates users and courses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A4756"/>
                </a:solidFill>
                <a:latin typeface="Segoe UI"/>
              </a:rPr>
              <a:t>• Enrolls students and assigns teachers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A4756"/>
                </a:solidFill>
                <a:latin typeface="Segoe UI"/>
              </a:rPr>
              <a:t>• Approves or rejects correction requests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A4756"/>
                </a:solidFill>
                <a:latin typeface="Segoe UI"/>
              </a:rPr>
              <a:t>• Changes anyone's role — except their 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4398264" y="1783080"/>
            <a:ext cx="3392424" cy="283464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98264" y="1783080"/>
            <a:ext cx="64008" cy="2834640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2584" y="1984248"/>
            <a:ext cx="2935224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225B94"/>
                </a:solidFill>
                <a:latin typeface="Segoe UI"/>
              </a:rPr>
              <a:t>Teacher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2584" y="2459736"/>
            <a:ext cx="2889504" cy="202082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A4756"/>
                </a:solidFill>
                <a:latin typeface="Segoe UI"/>
              </a:rPr>
              <a:t>• Sees only the courses they're assigned to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A4756"/>
                </a:solidFill>
                <a:latin typeface="Segoe UI"/>
              </a:rPr>
              <a:t>• Marks present, absent or late for a date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A4756"/>
                </a:solidFill>
                <a:latin typeface="Segoe UI"/>
              </a:rPr>
              <a:t>• Can edit a record they already saved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9288" y="1783080"/>
            <a:ext cx="3392424" cy="283464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9288" y="1783080"/>
            <a:ext cx="64008" cy="2834640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1984248"/>
            <a:ext cx="2935224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225B94"/>
                </a:solidFill>
                <a:latin typeface="Segoe UI"/>
              </a:rPr>
              <a:t>Student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459736"/>
            <a:ext cx="2889504" cy="202082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A4756"/>
                </a:solidFill>
                <a:latin typeface="Segoe UI"/>
              </a:rPr>
              <a:t>• Sees only their own attendance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A4756"/>
                </a:solidFill>
                <a:latin typeface="Segoe UI"/>
              </a:rPr>
              <a:t>• Requests a correction with a written reason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A4756"/>
                </a:solidFill>
                <a:latin typeface="Segoe UI"/>
              </a:rPr>
              <a:t>• Sees the admin's decision on each request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892040"/>
            <a:ext cx="10634472" cy="132588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892040"/>
            <a:ext cx="64008" cy="1325880"/>
          </a:xfrm>
          <a:prstGeom prst="rect">
            <a:avLst/>
          </a:prstGeom>
          <a:solidFill>
            <a:srgbClr val="9A6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093207"/>
            <a:ext cx="10177272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9A6208"/>
                </a:solidFill>
                <a:latin typeface="Segoe UI"/>
              </a:rPr>
              <a:t>Enforced on the server, not just hidden in the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568696"/>
            <a:ext cx="10131552" cy="512063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A4756"/>
                </a:solidFill>
                <a:latin typeface="Segoe UI"/>
              </a:rPr>
              <a:t>Anyone can call the API directly, so a hidden button protects nothing. Every protected route checks the role inside a signed cookie on every single request.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6B7A8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22960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25B94"/>
                </a:solidFill>
                <a:latin typeface="Segoe UI"/>
              </a:rPr>
              <a:t>05  · 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4472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41C26"/>
                </a:solidFill>
                <a:latin typeface="Segoe UI"/>
              </a:rPr>
              <a:t>We rebuilt login mid-project — here's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10634472" cy="548640"/>
          </a:xfrm>
          <a:prstGeom prst="rect">
            <a:avLst/>
          </a:prstGeom>
          <a:solidFill>
            <a:srgbClr val="14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11095"/>
            <a:ext cx="27889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3959351" y="1911095"/>
            <a:ext cx="3538728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First 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79" y="1911095"/>
            <a:ext cx="3621024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Current version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634472" cy="548640"/>
          </a:xfrm>
          <a:prstGeom prst="rect">
            <a:avLst/>
          </a:prstGeom>
          <a:solidFill>
            <a:srgbClr val="F4F6F8"/>
          </a:solidFill>
          <a:ln w="635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468879"/>
            <a:ext cx="27889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1C26"/>
                </a:solidFill>
                <a:latin typeface="Segoe UI"/>
              </a:rPr>
              <a:t>Where the token lives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59351" y="2468879"/>
            <a:ext cx="3538728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A5281B"/>
                </a:solidFill>
                <a:latin typeface="Segoe UI"/>
              </a:rPr>
              <a:t>localStorage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2468879"/>
            <a:ext cx="3621024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7A3C"/>
                </a:solidFill>
                <a:latin typeface="Segoe UI"/>
              </a:rPr>
              <a:t>httpOnly cookie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880360"/>
            <a:ext cx="106344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017520"/>
            <a:ext cx="27889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1C26"/>
                </a:solidFill>
                <a:latin typeface="Segoe UI"/>
              </a:rPr>
              <a:t>Readable by JavaScript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9351" y="3017520"/>
            <a:ext cx="3538728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A5281B"/>
                </a:solidFill>
                <a:latin typeface="Segoe UI"/>
              </a:rPr>
              <a:t>Yes — an XSS bug could steal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3017520"/>
            <a:ext cx="3621024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7A3C"/>
                </a:solidFill>
                <a:latin typeface="Segoe UI"/>
              </a:rPr>
              <a:t>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429000"/>
            <a:ext cx="10634472" cy="548640"/>
          </a:xfrm>
          <a:prstGeom prst="rect">
            <a:avLst/>
          </a:prstGeom>
          <a:solidFill>
            <a:srgbClr val="F4F6F8"/>
          </a:solidFill>
          <a:ln w="635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566160"/>
            <a:ext cx="27889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1C26"/>
                </a:solidFill>
                <a:latin typeface="Segoe UI"/>
              </a:rPr>
              <a:t>Token lifetime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9351" y="3566160"/>
            <a:ext cx="3538728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A5281B"/>
                </a:solidFill>
                <a:latin typeface="Segoe UI"/>
              </a:rPr>
              <a:t>1 hour, single token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3566160"/>
            <a:ext cx="3621024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7A3C"/>
                </a:solidFill>
                <a:latin typeface="Segoe UI"/>
              </a:rPr>
              <a:t>15 min access + 7 day refresh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77639"/>
            <a:ext cx="106344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114800"/>
            <a:ext cx="27889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1C26"/>
                </a:solidFill>
                <a:latin typeface="Segoe UI"/>
              </a:rPr>
              <a:t>Logout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9351" y="4114800"/>
            <a:ext cx="3538728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A5281B"/>
                </a:solidFill>
                <a:latin typeface="Segoe UI"/>
              </a:rPr>
              <a:t>Deletes the client's copy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4114800"/>
            <a:ext cx="3621024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7A3C"/>
                </a:solidFill>
                <a:latin typeface="Segoe UI"/>
              </a:rPr>
              <a:t>Server revokes it — a real logout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526279"/>
            <a:ext cx="10634472" cy="548640"/>
          </a:xfrm>
          <a:prstGeom prst="rect">
            <a:avLst/>
          </a:prstGeom>
          <a:solidFill>
            <a:srgbClr val="F4F6F8"/>
          </a:solidFill>
          <a:ln w="635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4663440"/>
            <a:ext cx="27889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1C26"/>
                </a:solidFill>
                <a:latin typeface="Segoe UI"/>
              </a:rPr>
              <a:t>When the token expires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9351" y="4663440"/>
            <a:ext cx="3538728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A5281B"/>
                </a:solidFill>
                <a:latin typeface="Segoe UI"/>
              </a:rPr>
              <a:t>User is forced to log in again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4663440"/>
            <a:ext cx="3621024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7A3C"/>
                </a:solidFill>
                <a:latin typeface="Segoe UI"/>
              </a:rPr>
              <a:t>Silently renewed in the background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349239"/>
            <a:ext cx="10634472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 i="1">
                <a:solidFill>
                  <a:srgbClr val="6B7A8C"/>
                </a:solidFill>
                <a:latin typeface="Segoe UI"/>
              </a:rPr>
              <a:t>I built the first version alone under deadline. The current one merges my teammate's improvements, made once there was time to do it properly.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6B7A8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22960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25B94"/>
                </a:solidFill>
                <a:latin typeface="Segoe UI"/>
              </a:rPr>
              <a:t>05  · 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4472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41C26"/>
                </a:solidFill>
                <a:latin typeface="Segoe UI"/>
              </a:rPr>
              <a:t>What happens when you log 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4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Browser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54480" y="2148840"/>
            <a:ext cx="0" cy="3474720"/>
          </a:xfrm>
          <a:prstGeom prst="line">
            <a:avLst/>
          </a:prstGeom>
          <a:ln w="12700">
            <a:solidFill>
              <a:srgbClr val="D8DEE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321808" y="169164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4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21808" y="1691640"/>
            <a:ext cx="155448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Server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9048" y="2148840"/>
            <a:ext cx="0" cy="3474720"/>
          </a:xfrm>
          <a:prstGeom prst="line">
            <a:avLst/>
          </a:prstGeom>
          <a:ln w="12700">
            <a:solidFill>
              <a:srgbClr val="D8DEE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57232" y="169164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4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57232" y="1691640"/>
            <a:ext cx="155448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MongoDB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634472" y="2148840"/>
            <a:ext cx="0" cy="3474720"/>
          </a:xfrm>
          <a:prstGeom prst="line">
            <a:avLst/>
          </a:prstGeom>
          <a:ln w="12700">
            <a:solidFill>
              <a:srgbClr val="D8DEE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554480" y="2606040"/>
            <a:ext cx="4544568" cy="0"/>
          </a:xfrm>
          <a:prstGeom prst="line">
            <a:avLst/>
          </a:prstGeom>
          <a:ln w="20320">
            <a:solidFill>
              <a:srgbClr val="3A475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554480" y="2304288"/>
            <a:ext cx="4544568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3A4756"/>
                </a:solidFill>
                <a:latin typeface="Segoe UI"/>
              </a:rPr>
              <a:t>POST /auth/login  { email, password }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9048" y="3108960"/>
            <a:ext cx="4535424" cy="0"/>
          </a:xfrm>
          <a:prstGeom prst="line">
            <a:avLst/>
          </a:prstGeom>
          <a:ln w="20320">
            <a:solidFill>
              <a:srgbClr val="3A475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099048" y="2807208"/>
            <a:ext cx="4535424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3A4756"/>
                </a:solidFill>
                <a:latin typeface="Segoe UI"/>
              </a:rPr>
              <a:t>find the user by email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099048" y="3611880"/>
            <a:ext cx="4535424" cy="0"/>
          </a:xfrm>
          <a:prstGeom prst="line">
            <a:avLst/>
          </a:prstGeom>
          <a:ln w="20320">
            <a:solidFill>
              <a:srgbClr val="3A475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099048" y="3310128"/>
            <a:ext cx="4535424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3A4756"/>
                </a:solidFill>
                <a:latin typeface="Segoe UI"/>
              </a:rPr>
              <a:t>stored password hash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928" y="3877056"/>
            <a:ext cx="420624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9A6208"/>
                </a:solidFill>
                <a:latin typeface="Segoe UI"/>
              </a:rPr>
              <a:t>bcrypt.compare(typed password, stored hash)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1928" y="4261104"/>
            <a:ext cx="420624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9A6208"/>
                </a:solidFill>
                <a:latin typeface="Segoe UI"/>
              </a:rPr>
              <a:t>sign access token (15 min) + refresh token (7 days)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9048" y="4983480"/>
            <a:ext cx="4535424" cy="0"/>
          </a:xfrm>
          <a:prstGeom prst="line">
            <a:avLst/>
          </a:prstGeom>
          <a:ln w="20320">
            <a:solidFill>
              <a:srgbClr val="3A475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099048" y="4681728"/>
            <a:ext cx="4535424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3A4756"/>
                </a:solidFill>
                <a:latin typeface="Segoe UI"/>
              </a:rPr>
              <a:t>save refresh token on the user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554480" y="5486400"/>
            <a:ext cx="4544568" cy="0"/>
          </a:xfrm>
          <a:prstGeom prst="line">
            <a:avLst/>
          </a:prstGeom>
          <a:ln w="20320">
            <a:solidFill>
              <a:srgbClr val="1E7A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554480" y="5184648"/>
            <a:ext cx="4544568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E7A3C"/>
                </a:solidFill>
                <a:latin typeface="Segoe UI"/>
              </a:rPr>
              <a:t>Set-Cookie: token, refreshToken   (httpOnly)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833872"/>
            <a:ext cx="10634472" cy="53035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833872"/>
            <a:ext cx="64008" cy="530352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833872"/>
            <a:ext cx="10177272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3A4756"/>
                </a:solidFill>
                <a:latin typeface="Segoe UI"/>
              </a:rPr>
              <a:t>JavaScript never sees the token. The browser holds an httpOnly cookie and sends it back automatically on every request.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6B7A8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22960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25B94"/>
                </a:solidFill>
                <a:latin typeface="Segoe UI"/>
              </a:rPr>
              <a:t>05  · 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4472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41C26"/>
                </a:solidFill>
                <a:latin typeface="Segoe UI"/>
              </a:rPr>
              <a:t>Staying logged in past the 15-minute token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5180076" cy="443484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64008" cy="4434840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84248"/>
            <a:ext cx="47228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25B94"/>
                </a:solidFill>
                <a:latin typeface="Segoe UI"/>
              </a:rPr>
              <a:t>The interceptor 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9736"/>
            <a:ext cx="4677156" cy="3621023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3A4756"/>
                </a:solidFill>
                <a:latin typeface="Segoe UI"/>
              </a:rPr>
              <a:t>Every API call goes through one axios instance. When a response comes back 401, an interceptor catches it before the page sees an error: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3A4756"/>
                </a:solidFill>
                <a:latin typeface="Segoe UI"/>
              </a:rPr>
              <a:t>1. Pause the failed request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3A4756"/>
                </a:solidFill>
                <a:latin typeface="Segoe UI"/>
              </a:rPr>
              <a:t>2. Call POST /auth/refresh — the refresh cookie is sent automatically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3A4756"/>
                </a:solidFill>
                <a:latin typeface="Segoe UI"/>
              </a:rPr>
              <a:t>3. Receive a fresh 15-minute access token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3A4756"/>
                </a:solidFill>
                <a:latin typeface="Segoe UI"/>
              </a:rPr>
              <a:t>4. Retry the original request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3A4756"/>
                </a:solidFill>
                <a:latin typeface="Segoe UI"/>
              </a:rPr>
              <a:t>The user never notices their token expired.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1636" y="1783080"/>
            <a:ext cx="5180076" cy="210312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1636" y="1783080"/>
            <a:ext cx="64008" cy="2103120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5" y="1984248"/>
            <a:ext cx="47228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25B94"/>
                </a:solidFill>
                <a:latin typeface="Segoe UI"/>
              </a:rPr>
              <a:t>Why only 15 minutes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5955" y="2459736"/>
            <a:ext cx="4677156" cy="128930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3A4756"/>
                </a:solidFill>
                <a:latin typeface="Segoe UI"/>
              </a:rPr>
              <a:t>A stolen access token is useful for at most 15 minutes. The damage from a leak is limited on purpose.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1636" y="4114800"/>
            <a:ext cx="5180076" cy="210312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1636" y="4114800"/>
            <a:ext cx="64008" cy="2103120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5955" y="4315968"/>
            <a:ext cx="47228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25B94"/>
                </a:solidFill>
                <a:latin typeface="Segoe UI"/>
              </a:rPr>
              <a:t>Why a second secret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5955" y="4791456"/>
            <a:ext cx="4677156" cy="128930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3A4756"/>
                </a:solidFill>
                <a:latin typeface="Segoe UI"/>
              </a:rPr>
              <a:t>Access and refresh tokens are signed with different secrets, so leaking one doesn't let an attacker forge the other.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6B7A8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3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52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22960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08C80"/>
                </a:solidFill>
                <a:latin typeface="Segoe UI"/>
              </a:rPr>
              <a:t>06  ·  A REAL BUG WE CAUGHT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4472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interceptor could retry itself forever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5180076" cy="3931920"/>
          </a:xfrm>
          <a:prstGeom prst="rect">
            <a:avLst/>
          </a:prstGeom>
          <a:solidFill>
            <a:srgbClr val="241D1B"/>
          </a:solidFill>
          <a:ln w="9525">
            <a:solidFill>
              <a:srgbClr val="3A2F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64008" cy="3931920"/>
          </a:xfrm>
          <a:prstGeom prst="rect">
            <a:avLst/>
          </a:prstGeom>
          <a:solidFill>
            <a:srgbClr val="A52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84248"/>
            <a:ext cx="47228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08C80"/>
                </a:solidFill>
                <a:latin typeface="Segoe UI"/>
              </a:rPr>
              <a:t>What went wrong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514600"/>
            <a:ext cx="4677156" cy="1600200"/>
          </a:xfrm>
          <a:prstGeom prst="rect">
            <a:avLst/>
          </a:prstGeom>
          <a:solidFill>
            <a:srgbClr val="14100F"/>
          </a:solidFill>
          <a:ln w="6350">
            <a:solidFill>
              <a:srgbClr val="3A2F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448556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F2B3AB"/>
                </a:solidFill>
                <a:latin typeface="Consolas"/>
              </a:rPr>
              <a:t>if (status === 401 &amp;&amp; !original._retry) {</a:t>
            </a: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F2B3AB"/>
                </a:solidFill>
                <a:latin typeface="Consolas"/>
              </a:rPr>
              <a:t>  original._retry = true</a:t>
            </a: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F2B3AB"/>
                </a:solidFill>
                <a:latin typeface="Consolas"/>
              </a:rPr>
              <a:t>  await api.post("/auth/refresh")</a:t>
            </a: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F2B3AB"/>
                </a:solidFill>
                <a:latin typeface="Consolas"/>
              </a:rPr>
              <a:t>  return api(original)</a:t>
            </a: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F2B3AB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315968"/>
            <a:ext cx="4677156" cy="1325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DDD2CE"/>
                </a:solidFill>
                <a:latin typeface="Segoe UI"/>
              </a:rPr>
              <a:t>If /auth/refresh itself returned 401, the interceptor retried it as a brand-new request — with no _retry flag, so nothing stopped it. In testing that became 1,000+ requests to /auth/refresh.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3931920"/>
          </a:xfrm>
          <a:prstGeom prst="rect">
            <a:avLst/>
          </a:prstGeom>
          <a:solidFill>
            <a:srgbClr val="241D1B"/>
          </a:solidFill>
          <a:ln w="9525">
            <a:solidFill>
              <a:srgbClr val="3A2F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64008" cy="393192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5955" y="1984248"/>
            <a:ext cx="47228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74D096"/>
                </a:solidFill>
                <a:latin typeface="Segoe UI"/>
              </a:rPr>
              <a:t>The fix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05955" y="2514600"/>
            <a:ext cx="4677156" cy="1600200"/>
          </a:xfrm>
          <a:prstGeom prst="rect">
            <a:avLst/>
          </a:prstGeom>
          <a:solidFill>
            <a:srgbClr val="14100F"/>
          </a:solidFill>
          <a:ln w="6350">
            <a:solidFill>
              <a:srgbClr val="3A2F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3116" y="2633472"/>
            <a:ext cx="4448556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A9E2BD"/>
                </a:solidFill>
                <a:latin typeface="Consolas"/>
              </a:rPr>
              <a:t>const isRefreshCall =</a:t>
            </a: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A9E2BD"/>
                </a:solidFill>
                <a:latin typeface="Consolas"/>
              </a:rPr>
              <a:t>  original.url.includes("/auth/refresh")</a:t>
            </a:r>
          </a:p>
          <a:p>
            <a:pPr algn="l">
              <a:spcAft>
                <a:spcPts val="100"/>
              </a:spcAft>
            </a:pP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A9E2BD"/>
                </a:solidFill>
                <a:latin typeface="Consolas"/>
              </a:rPr>
              <a:t>if (status === 401 &amp;&amp; !original._retry</a:t>
            </a: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A9E2BD"/>
                </a:solidFill>
                <a:latin typeface="Consolas"/>
              </a:rPr>
              <a:t>    &amp;&amp; !isRefreshCall) { ... 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5955" y="4315968"/>
            <a:ext cx="4677156" cy="1325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DDD2CE"/>
                </a:solidFill>
                <a:latin typeface="Segoe UI"/>
              </a:rPr>
              <a:t>Never retry the refresh call itself. If refreshing fails the session is really over, so the user belongs on the login page, not in a loop.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8A7C78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22960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25B94"/>
                </a:solidFill>
                <a:latin typeface="Segoe UI"/>
              </a:rPr>
              <a:t>07  ·  SECURITY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4472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41C26"/>
                </a:solidFill>
                <a:latin typeface="Segoe UI"/>
              </a:rPr>
              <a:t>Three rules the server enforces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3392424" cy="224028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64008" cy="2240280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84248"/>
            <a:ext cx="2935224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25B94"/>
                </a:solidFill>
                <a:latin typeface="Segoe UI"/>
              </a:rPr>
              <a:t>Signup can't grant power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9736"/>
            <a:ext cx="2889504" cy="14264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A4756"/>
                </a:solidFill>
                <a:latin typeface="Segoe UI"/>
              </a:rPr>
              <a:t>Public registration always creates a student. The role is never read from the request, so there is nothing to tamper with.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98264" y="1783080"/>
            <a:ext cx="3392424" cy="224028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98264" y="1783080"/>
            <a:ext cx="64008" cy="2240280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2584" y="1984248"/>
            <a:ext cx="2935224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25B94"/>
                </a:solidFill>
                <a:latin typeface="Segoe UI"/>
              </a:rPr>
              <a:t>Only admins assign roles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2584" y="2459736"/>
            <a:ext cx="2889504" cy="14264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A4756"/>
                </a:solidFill>
                <a:latin typeface="Segoe UI"/>
              </a:rPr>
              <a:t>Creating a teacher or admin needs an existing admin, checked by authorize("admin") middleware on the route.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9288" y="1783080"/>
            <a:ext cx="3392424" cy="224028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9288" y="1783080"/>
            <a:ext cx="64008" cy="2240280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1984248"/>
            <a:ext cx="2935224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25B94"/>
                </a:solidFill>
                <a:latin typeface="Segoe UI"/>
              </a:rPr>
              <a:t>No self-demotion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459736"/>
            <a:ext cx="2889504" cy="14264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A4756"/>
                </a:solidFill>
                <a:latin typeface="Segoe UI"/>
              </a:rPr>
              <a:t>An admin can't change their own role, so the last admin can never lock everyone out by accident.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97680"/>
            <a:ext cx="10634472" cy="173736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97680"/>
            <a:ext cx="64008" cy="1737360"/>
          </a:xfrm>
          <a:prstGeom prst="rect">
            <a:avLst/>
          </a:prstGeom>
          <a:solidFill>
            <a:srgbClr val="9A6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498848"/>
            <a:ext cx="10177272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9A6208"/>
                </a:solidFill>
                <a:latin typeface="Segoe UI"/>
              </a:rPr>
              <a:t>Gaps we know about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974336"/>
            <a:ext cx="10131552" cy="9235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A4756"/>
                </a:solidFill>
                <a:latin typeface="Segoe UI"/>
              </a:rPr>
              <a:t>Registration is open, so anyone can create a student account — a real college would restrict it to a verified email domain. There's no rate limiting on login yet, which express-rate-limit would add in a few lines. Both are known, understood fixes rather than blind spots.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6B7A8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5B9BD8"/>
                </a:solidFill>
                <a:latin typeface="Segoe UI"/>
              </a:rPr>
              <a:t>LIVE DEMO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21992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21992"/>
            <a:ext cx="50292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167128"/>
            <a:ext cx="91440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Teacher marks attendance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182112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82112"/>
            <a:ext cx="50292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3127248"/>
            <a:ext cx="91440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Student disputes a record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142232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42232"/>
            <a:ext cx="50292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4087368"/>
            <a:ext cx="91440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Admin approves the request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102352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5B9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102352"/>
            <a:ext cx="50292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5047488"/>
            <a:ext cx="91440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5B9BD8"/>
                </a:solidFill>
                <a:latin typeface="Segoe UI"/>
              </a:rPr>
              <a:t>The record changes,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5A6878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22960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25B94"/>
                </a:solidFill>
                <a:latin typeface="Segoe UI"/>
              </a:rPr>
              <a:t>08  ·  WHAT WE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4472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41C26"/>
                </a:solidFill>
                <a:latin typeface="Segoe UI"/>
              </a:rPr>
              <a:t>Lessons that outlast this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5180076" cy="205740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64008" cy="2057400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84248"/>
            <a:ext cx="47228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25B94"/>
                </a:solidFill>
                <a:latin typeface="Segoe UI"/>
              </a:rPr>
              <a:t>Never trust the client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9736"/>
            <a:ext cx="4677156" cy="12435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3A4756"/>
                </a:solidFill>
                <a:latin typeface="Segoe UI"/>
              </a:rPr>
              <a:t>Every permission we re-checked on the server made the app safer without making it harder to use.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1636" y="1783080"/>
            <a:ext cx="5180076" cy="205740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1636" y="1783080"/>
            <a:ext cx="64008" cy="2057400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5" y="1984248"/>
            <a:ext cx="47228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25B94"/>
                </a:solidFill>
                <a:latin typeface="Segoe UI"/>
              </a:rPr>
              <a:t>Read the network tab before guessing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5955" y="2459736"/>
            <a:ext cx="4677156" cy="12435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3A4756"/>
                </a:solidFill>
                <a:latin typeface="Segoe UI"/>
              </a:rPr>
              <a:t>Both auth bugs — a refresh loop and a page-reload loop — were invisible in the UI and obvious in DevTools.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069080"/>
            <a:ext cx="5180076" cy="205740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069080"/>
            <a:ext cx="64008" cy="2057400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270248"/>
            <a:ext cx="47228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25B94"/>
                </a:solidFill>
                <a:latin typeface="Segoe UI"/>
              </a:rPr>
              <a:t>Iterate instead of perfecting a first draft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745736"/>
            <a:ext cx="4677156" cy="12435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3A4756"/>
                </a:solidFill>
                <a:latin typeface="Segoe UI"/>
              </a:rPr>
              <a:t>The first login system shipped under deadline. The second is genuinely more secure, built once there was time.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1636" y="4069080"/>
            <a:ext cx="5180076" cy="2057400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1636" y="4069080"/>
            <a:ext cx="64008" cy="2057400"/>
          </a:xfrm>
          <a:prstGeom prst="rect">
            <a:avLst/>
          </a:prstGeom>
          <a:solidFill>
            <a:srgbClr val="225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5955" y="4270248"/>
            <a:ext cx="4722876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25B94"/>
                </a:solidFill>
                <a:latin typeface="Segoe UI"/>
              </a:rPr>
              <a:t>Separate what deploys differently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5955" y="4745736"/>
            <a:ext cx="4677156" cy="12435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3A4756"/>
                </a:solidFill>
                <a:latin typeface="Segoe UI"/>
              </a:rPr>
              <a:t>Splitting frontend and backend removed an entire category of deployment bugs instead of working around them.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19088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 i="0">
                <a:solidFill>
                  <a:srgbClr val="6B7A8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14600"/>
            <a:ext cx="10332720" cy="9144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5B9BD8"/>
                </a:solidFill>
                <a:latin typeface="Segoe U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51960"/>
            <a:ext cx="1033272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B9C9DA"/>
                </a:solidFill>
                <a:latin typeface="Segoe UI"/>
              </a:rPr>
              <a:t>attendance-system-gold-five.vercel.app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